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4c6274c90d423d" /><Relationship Type="http://schemas.openxmlformats.org/officeDocument/2006/relationships/extended-properties" Target="/docProps/app.xml" Id="R35cb6ed59cb04946" /><Relationship Type="http://schemas.openxmlformats.org/officeDocument/2006/relationships/officeDocument" Target="/ppt/presentation.xml" Id="R27a9548fa991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66cb4329d340c0"/>
  </p:sldMasterIdLst>
  <p:notesMasterIdLst>
    <p:notesMasterId xmlns:r="http://schemas.openxmlformats.org/officeDocument/2006/relationships" r:id="R35164471f67542b5"/>
  </p:notesMasterIdLst>
  <p:sldIdLst>
    <p:sldId xmlns:r="http://schemas.openxmlformats.org/officeDocument/2006/relationships" id="256" r:id="Radbc52ba33474059"/>
    <p:sldId xmlns:r="http://schemas.openxmlformats.org/officeDocument/2006/relationships" id="257" r:id="R52599598255d4673"/>
    <p:sldId xmlns:r="http://schemas.openxmlformats.org/officeDocument/2006/relationships" id="258" r:id="Rbf2dfcdd688246a4"/>
    <p:sldId xmlns:r="http://schemas.openxmlformats.org/officeDocument/2006/relationships" id="259" r:id="R5e9809064eae4db9"/>
    <p:sldId xmlns:r="http://schemas.openxmlformats.org/officeDocument/2006/relationships" id="260" r:id="R3aa17b77f7e54fae"/>
    <p:sldId xmlns:r="http://schemas.openxmlformats.org/officeDocument/2006/relationships" id="261" r:id="R7cd1ab0dd1ed438e"/>
    <p:sldId xmlns:r="http://schemas.openxmlformats.org/officeDocument/2006/relationships" id="262" r:id="Rbb4944cbcd7a4c00"/>
    <p:sldId xmlns:r="http://schemas.openxmlformats.org/officeDocument/2006/relationships" id="263" r:id="Reefe29ff29864e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a06d636b24f56" /><Relationship Type="http://schemas.openxmlformats.org/officeDocument/2006/relationships/slideMaster" Target="/ppt/slideMasters/slideMaster1.xml" Id="Rd966cb4329d340c0" /><Relationship Type="http://schemas.openxmlformats.org/officeDocument/2006/relationships/notesMaster" Target="/ppt/notesMasters/notesMaster1.xml" Id="R35164471f67542b5" /><Relationship Type="http://schemas.openxmlformats.org/officeDocument/2006/relationships/presProps" Target="/ppt/presProps.xml" Id="Rd4c5543cfe654c06" /><Relationship Type="http://schemas.openxmlformats.org/officeDocument/2006/relationships/tableStyles" Target="/ppt/tableStyles.xml" Id="R9b61fcd2d2224554" /><Relationship Type="http://schemas.openxmlformats.org/officeDocument/2006/relationships/slide" Target="/ppt/slides/slide1.xml" Id="Radbc52ba33474059" /><Relationship Type="http://schemas.openxmlformats.org/officeDocument/2006/relationships/slide" Target="/ppt/slides/slide2.xml" Id="R52599598255d4673" /><Relationship Type="http://schemas.openxmlformats.org/officeDocument/2006/relationships/slide" Target="/ppt/slides/slide3.xml" Id="Rbf2dfcdd688246a4" /><Relationship Type="http://schemas.openxmlformats.org/officeDocument/2006/relationships/slide" Target="/ppt/slides/slide4.xml" Id="R5e9809064eae4db9" /><Relationship Type="http://schemas.openxmlformats.org/officeDocument/2006/relationships/slide" Target="/ppt/slides/slide5.xml" Id="R3aa17b77f7e54fae" /><Relationship Type="http://schemas.openxmlformats.org/officeDocument/2006/relationships/slide" Target="/ppt/slides/slide6.xml" Id="R7cd1ab0dd1ed438e" /><Relationship Type="http://schemas.openxmlformats.org/officeDocument/2006/relationships/slide" Target="/ppt/slides/slide7.xml" Id="Rbb4944cbcd7a4c00" /><Relationship Type="http://schemas.openxmlformats.org/officeDocument/2006/relationships/slide" Target="/ppt/slides/slide8.xml" Id="Reefe29ff29864e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873ee27b5b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14b40469414338" /><Relationship Type="http://schemas.openxmlformats.org/officeDocument/2006/relationships/notesMaster" Target="/ppt/notesMasters/notesMaster1.xml" Id="R22ea41e873d7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4f486dd46452b" /><Relationship Type="http://schemas.openxmlformats.org/officeDocument/2006/relationships/notesMaster" Target="/ppt/notesMasters/notesMaster1.xml" Id="R4cd365dead3c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e994c0b7134e66" /><Relationship Type="http://schemas.openxmlformats.org/officeDocument/2006/relationships/notesMaster" Target="/ppt/notesMasters/notesMaster1.xml" Id="R0cf71cf9919f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47b91e74f44c1" /><Relationship Type="http://schemas.openxmlformats.org/officeDocument/2006/relationships/notesMaster" Target="/ppt/notesMasters/notesMaster1.xml" Id="Rc11624f8919a49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667c619c41440f" /><Relationship Type="http://schemas.openxmlformats.org/officeDocument/2006/relationships/notesMaster" Target="/ppt/notesMasters/notesMaster1.xml" Id="Rb4496e9a177e4b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03ee6099d04bfe" /><Relationship Type="http://schemas.openxmlformats.org/officeDocument/2006/relationships/notesMaster" Target="/ppt/notesMasters/notesMaster1.xml" Id="R92b5922135c745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5d96cb600f45b1" /><Relationship Type="http://schemas.openxmlformats.org/officeDocument/2006/relationships/notesMaster" Target="/ppt/notesMasters/notesMaster1.xml" Id="R59c4f2acf23649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a26a5201c64857" /><Relationship Type="http://schemas.openxmlformats.org/officeDocument/2006/relationships/notesMaster" Target="/ppt/notesMasters/notesMaster1.xml" Id="Rf3677d093482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306c697114c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160674bbe432b" /><Relationship Type="http://schemas.openxmlformats.org/officeDocument/2006/relationships/slideLayout" Target="/ppt/slideLayouts/slideLayout1.xml" Id="R18edb9b357f843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db9b357f843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06361760b4698" /><Relationship Type="http://schemas.openxmlformats.org/officeDocument/2006/relationships/image" Target="/ppt/media/image.png" Id="R9d16973a59664582" /><Relationship Type="http://schemas.openxmlformats.org/officeDocument/2006/relationships/notesSlide" Target="/ppt/notesSlides/notesSlide1.xml" Id="R230cb7ff373949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b83f130bb482b" /><Relationship Type="http://schemas.openxmlformats.org/officeDocument/2006/relationships/notesSlide" Target="/ppt/notesSlides/notesSlide2.xml" Id="R81b49f4ffa7d42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6b6c218b74802" /><Relationship Type="http://schemas.openxmlformats.org/officeDocument/2006/relationships/notesSlide" Target="/ppt/notesSlides/notesSlide3.xml" Id="R7858bcf318ff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c000b97424059" /><Relationship Type="http://schemas.openxmlformats.org/officeDocument/2006/relationships/notesSlide" Target="/ppt/notesSlides/notesSlide4.xml" Id="Re47af14709a744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4427e20034987" /><Relationship Type="http://schemas.openxmlformats.org/officeDocument/2006/relationships/notesSlide" Target="/ppt/notesSlides/notesSlide5.xml" Id="Re1e02046349c49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21d586a764d6a" /><Relationship Type="http://schemas.openxmlformats.org/officeDocument/2006/relationships/notesSlide" Target="/ppt/notesSlides/notesSlide6.xml" Id="R8d2b8e210b5c4f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9be72ae714183" /><Relationship Type="http://schemas.openxmlformats.org/officeDocument/2006/relationships/notesSlide" Target="/ppt/notesSlides/notesSlide7.xml" Id="R8a2c9d4b3d8a4f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1687e67964e24" /><Relationship Type="http://schemas.openxmlformats.org/officeDocument/2006/relationships/notesSlide" Target="/ppt/notesSlides/notesSlide8.xml" Id="R80716263503f4f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6973a596645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D602D-6051-46D5-AF7F-E59088A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4D99-F523-475D-81CF-9332F8C9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汽车技术方案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2C7D0-BD78-46F0-9947-BABD13FC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DADD"/>
                </a:solidFill>
              </a:defRPr>
            </a:pPr>
            <a:r>
              <a:rPr sz="1800">
                <a:solidFill>
                  <a:srgbClr val="D7DADD"/>
                </a:solidFill>
              </a:rPr>
              <a:t>面向车企数字化平台的架构、权限与预算方案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B8782-5BC8-4C7C-A4E0-239EC8D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EB4BB"/>
                </a:solidFill>
              </a:defRPr>
            </a:pPr>
            <a:r>
              <a:rPr sz="975" b="1">
                <a:solidFill>
                  <a:srgbClr val="AEB4BB"/>
                </a:solidFill>
              </a:rPr>
              <a:t>TECHNICAL PROPOSAL</a:t>
            </a:r>
          </a:p>
        </p:txBody>
      </p:sp>
    </p:spTree>
    <p:extLst>
      <p:ext uri="{BB962C8B-B14F-4D97-AF65-F5344CB8AC3E}">
        <p14:creationId xmlns:p14="http://schemas.microsoft.com/office/powerpoint/2010/main" val="150748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17002-2DB5-41D1-9116-EB28C47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AUTO TECH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6FED2-296E-4BCE-869B-5F40B565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D77A1-16E8-46C3-B20A-CC0E200C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BC24-8AB4-44EF-91F9-4ACA4FA3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D9297"/>
                </a:solidFill>
              </a:defRPr>
            </a:pPr>
            <a:r>
              <a:rPr sz="975">
                <a:solidFill>
                  <a:srgbClr val="8D9297"/>
                </a:solidFill>
              </a:rPr>
              <a:t>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E8C18-4215-42A5-9A39-31976B9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本方案围绕平台能力落地展开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A64BE-90CD-472F-B90F-F036F7A7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从业务背景到技术实现，再到权限、预算和答疑，形成可评审的闭环。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F19ED-671E-4E2D-9288-A853E35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50795-3EE0-4B87-A78F-BA13363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193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1F81A-F44C-46B6-8BCA-ECA68A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技术背景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6210E-1EBD-4490-8FFF-76ABB08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8AD13-AF46-4143-84BC-24FFECA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718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64B64-3D92-4BAA-89E0-9BB5273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技术架构图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F6DE1-506A-47DC-8150-552299A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FB1EB-D400-4257-9906-8C14A74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242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0AA86-075B-4A29-95C3-9525405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用户权限管理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85CA6-FB3D-4070-9C90-7BBBDB31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8E179-6B7A-4344-A75A-87AF7DC2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767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6ED22-9DE2-41D0-88C7-F1A28B1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3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预算评估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6C115-DC26-4C18-8C02-98CA375A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24322-ADA8-4260-A282-A5952090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291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83355-A6F1-4699-8D50-398D73FB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081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CA278-8207-43B2-9A83-0FA10FD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AUTO TECH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6AF11-A03B-45FE-ACC4-DF382CAF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67B8D-1B95-4385-B379-190EC239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C2E58-6758-416B-9A78-557362A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D9297"/>
                </a:solidFill>
              </a:defRPr>
            </a:pPr>
            <a:r>
              <a:rPr sz="975">
                <a:solidFill>
                  <a:srgbClr val="8D9297"/>
                </a:solidFill>
              </a:rPr>
              <a:t>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352AA-62A5-4AA1-9EE3-EBA6C422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车企数字化平台需要统一的技术底座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B16A7-C631-46CC-8C5F-62F14B1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多端触点、车辆数据、经销服务和内部运营正在收敛到同一套平台能力。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274C6-FB19-4764-9C43-8A2D156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6050D-F043-4618-8A04-F90C73A0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业务入口分散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App、车机、官网、门店系统各自演进，体验和数据口径容易割裂。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67ECA-C637-4CC3-BFD1-F9FA4A8A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7F8FC-B8E4-4797-B184-FB50C27E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数据链路变长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车辆、订单、用户和服务数据需要统一采集、治理和开放。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E8B70-F110-4361-B83A-A995CE4D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FF724-0F9C-48DA-BD6A-5485DFF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权限边界更复杂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总部、区域、经销商、供应商需要差异化访问和审计能力。</a:t>
            </a:r>
          </a:p>
        </p:txBody>
      </p:sp>
    </p:spTree>
    <p:extLst>
      <p:ext uri="{BB962C8B-B14F-4D97-AF65-F5344CB8AC3E}">
        <p14:creationId xmlns:p14="http://schemas.microsoft.com/office/powerpoint/2010/main" val="779880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06F7B-0DC3-439F-8E2D-E11668E2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AUTO TECH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7AC74-E677-476B-AA15-8513C3A5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67601-B69B-471A-94EF-1E48C5C7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E9A72-B5C0-4727-AA37-30E44BF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D9297"/>
                </a:solidFill>
              </a:defRPr>
            </a:pPr>
            <a:r>
              <a:rPr sz="975">
                <a:solidFill>
                  <a:srgbClr val="8D9297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0B1A3-BDF7-4593-A8B4-5F6352EE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架构以统一接入、业务服务和数据底座分层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230C-F910-425B-9316-7C5475AE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核心目标是降低系统耦合，并为后续功能扩展保留清晰边界。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65BAF-5E23-46D1-AB74-7CB3490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4756F-816F-4739-9D06-5B8CE200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用户触点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 / Web / 车机 / 门店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829DE-DD0F-46E7-9DB4-25386325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0C655-CE14-49F3-A5BC-C3346C0D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575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统一接入层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API Gateway / SSO / 风控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17C68-8713-412B-B09D-CD42EC9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2E1D7-18E5-48B3-9277-0B4635D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业务服务层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用户 / 车辆 / 订单 / 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71284-75F5-49FA-BD81-44B996F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67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8F4A6-4A6A-4017-929A-95F75C75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数据与集成层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数据湖 / BI / 第三方接口</a:t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31051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B61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72150" y="31051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B61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72500" y="31051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B61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AA1BE-6F1B-42CA-B66D-0FA0B60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76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E00AE-B421-40BD-8A76-54A40F6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安全合规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0E273-006A-41AC-9E67-B4B846E5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6F07C-5BCE-49D3-85B1-0946599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67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日志监控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E8107-4C17-4E31-A289-DFAB2A93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91367-3350-4A5E-98E9-28368F4B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运维发布</a:t>
            </a:r>
          </a:p>
        </p:txBody>
      </p:sp>
    </p:spTree>
    <p:extLst>
      <p:ext uri="{BB962C8B-B14F-4D97-AF65-F5344CB8AC3E}">
        <p14:creationId xmlns:p14="http://schemas.microsoft.com/office/powerpoint/2010/main" val="1208333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A5830-FD15-48ED-9C85-DB654B23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AUTO TECH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31DB3-FC15-4E9F-94AE-DE4F30E7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124D7-1EF7-4CC7-B6FE-FD3CE38C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4061F-D3F8-495D-A5D3-E0F872A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D9297"/>
                </a:solidFill>
              </a:defRPr>
            </a:pPr>
            <a:r>
              <a:rPr sz="975">
                <a:solidFill>
                  <a:srgbClr val="8D9297"/>
                </a:solidFill>
              </a:rPr>
              <a:t>ACCESS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542DA-A132-4E61-AEC7-0D23D066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权限管理采用角色、组织和数据范围三层控制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86982-9860-44DB-B054-6A598130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把“能登录、能看什么、能操作什么”拆开，降低后续维护成本。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3CB44-FEA8-40D4-871C-898A004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30C87-58F1-4B9B-8257-FA05A24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角色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总部管理员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区域运营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经销商人员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供应商协作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D09E4-F1BF-4C6F-80D6-7AAE7D9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43A97-3BF8-4034-8A0D-8C4B9A6B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组织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品牌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区域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门店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项目组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20EBE-CDE0-4406-A29F-690AFA5B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DC989-F934-49FB-B2BE-9498E668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数据范围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全部数据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区域数据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门店数据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本人数据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24E39-D1C5-4E0A-8028-2E7463B9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21941-0DB7-4415-A94F-E5BEA667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所有高风险操作进入审计日志。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94499-F952-43E9-B61A-DDE8622A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C5C48-A281-4B83-ACF0-FCADF0C6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敏感数据按字段和接口双重授权。</a:t>
            </a:r>
          </a:p>
        </p:txBody>
      </p:sp>
    </p:spTree>
    <p:extLst>
      <p:ext uri="{BB962C8B-B14F-4D97-AF65-F5344CB8AC3E}">
        <p14:creationId xmlns:p14="http://schemas.microsoft.com/office/powerpoint/2010/main" val="1418626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305817-E3DE-4736-80EF-D7E935E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AUTO TECH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7ACA7-F837-47E9-AA95-D8D2D70B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C3142-791D-4972-8E88-F009BD8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C885D-B655-496E-A258-B8C97920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D9297"/>
                </a:solidFill>
              </a:defRPr>
            </a:pPr>
            <a:r>
              <a:rPr sz="975">
                <a:solidFill>
                  <a:srgbClr val="8D9297"/>
                </a:solidFill>
              </a:rPr>
              <a:t>BUDGET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780F3-8EC8-47F6-A319-55FA540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预算先按工作包拆分，金额在评审后锁定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05165-4A32-45E1-A84D-671CC569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以下为可替换的估算结构，用于明确投入范围和成本口径。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2B844-8C5A-48E8-84DD-050845F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E1415-1758-46C0-A01C-C943BD3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69A38-8192-4D56-B469-E25692C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26508-8701-444D-9528-6346E5A8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14600"/>
            <a:ext cx="560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867ED-2D74-4527-9B3B-C5BC905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D9EB8-000E-45A9-BCB3-F4C83EA0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9A963-9A12-4B57-9EEE-69C22A6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DDF58-C823-43F7-AB12-B5EB0F1E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需求与设计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96F35-EEFE-445D-8E4D-836E1C2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C146F-1229-4959-B61A-00BB34C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560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需求梳理、原型、技术方案细化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19B74-2BCA-4A0B-B614-98FAB5D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68E8E-5ED2-4BC1-853B-F658D4C9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待确认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92AE3-F052-487D-9582-D592AF34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A74FE-D479-447A-B1E7-D10CCF26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平台开发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77466-DCCC-4191-9F31-BAF0C9A6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02431-0F4D-440B-86EB-83AA970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43300"/>
            <a:ext cx="560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前端、后端、接口、权限与审计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4F539-4AF6-4D7E-9872-6FD63C48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6778A-4DDD-4006-B896-D3F5479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待确认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B8E15-3E83-4A5B-B7A9-53F93620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98E09-F5DA-40BC-BD07-0DC24116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集成与数据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21CD0-0DE9-48DC-9CD6-6F5F693F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243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026B99-BDAD-4C41-BCD1-BA26DDF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57650"/>
            <a:ext cx="560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车企内部系统、第三方接口、数据治理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204DB-11D7-45FD-98BA-B7EC50E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4AA5A3-0411-4932-930B-DAA031F3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待确认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34E8EC-A048-480D-9B56-EA528628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EC3452-1EC8-49D4-8C33-3D68AC4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测试与上线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1C7EC-59E1-4BAD-A7A0-A67E9350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386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7418E0-DA3F-4427-B015-9E81681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0"/>
            <a:ext cx="560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联调、性能、安全、发布支持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7D3C90-2C81-49D8-9719-924CA2F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F8929E-9712-41D6-AAC3-91ED415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待确认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64135-F11F-4C35-9DEC-91D08FEA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DD1DD7-2A1B-4984-B5C2-4A4F13EE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运维与预留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57BEAD-921E-43E4-A3AF-C657FAD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530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6F443D-7CF5-4776-8A45-9DC2C914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86350"/>
            <a:ext cx="560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云资源、监控、应急预留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1092B7-0754-49BC-AE5E-48C5137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530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958F3C-4C8C-4FED-A54B-CA0C07F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863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待确认</a:t>
            </a:r>
          </a:p>
        </p:txBody>
      </p:sp>
    </p:spTree>
    <p:extLst>
      <p:ext uri="{BB962C8B-B14F-4D97-AF65-F5344CB8AC3E}">
        <p14:creationId xmlns:p14="http://schemas.microsoft.com/office/powerpoint/2010/main" val="1139159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EE1711-6BF1-483D-B72C-F21C513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AUTO TECH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F8AC3-38D3-4201-8DC6-E062368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297"/>
                </a:solidFill>
              </a:defRPr>
            </a:pPr>
            <a:r>
              <a:rPr sz="900" b="1">
                <a:solidFill>
                  <a:srgbClr val="8D929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0506-FE59-4844-946D-9ECFF9AD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solidFill>
              <a:srgbClr val="D7DA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BD10E-7F7A-41D4-8622-DC840412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D9297"/>
                </a:solidFill>
              </a:defRPr>
            </a:pPr>
            <a:r>
              <a:rPr sz="975">
                <a:solidFill>
                  <a:srgbClr val="8D9297"/>
                </a:solidFill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1842E-9FEF-483D-9A7B-5D2652A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评审问题集中在范围、集成和上线节奏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E584B-30B6-41D0-9245-DE71280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B61"/>
                </a:solidFill>
              </a:defRPr>
            </a:pPr>
            <a:r>
              <a:rPr sz="1350">
                <a:solidFill>
                  <a:srgbClr val="555B61"/>
                </a:solidFill>
              </a:rPr>
              <a:t>建议围绕下面四类问题快速对齐，避免方案评审停留在细节分歧。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A1E60-3C59-43A9-BF28-E968868E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2C2BC-9EAF-4234-A01D-A7AEAEB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范围边界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哪些业务在一期必须交付？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A4754-6C68-4616-8E42-BED0FB67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24B58-0BE2-484A-880E-CCB7A2E1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系统集成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哪些接口由现有系统提供？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937CD-2CAE-443C-A7AA-AC34219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14F38-FFE1-4E0C-ADBE-B8B559D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数据责任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谁负责主数据和质量口径？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19E86-1E5B-4C56-B50B-C784814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D363E-6EB9-47E7-9081-DBC918EF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上线策略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先试点门店还是全量发布？</a:t>
            </a:r>
          </a:p>
        </p:txBody>
      </p:sp>
    </p:spTree>
    <p:extLst>
      <p:ext uri="{BB962C8B-B14F-4D97-AF65-F5344CB8AC3E}">
        <p14:creationId xmlns:p14="http://schemas.microsoft.com/office/powerpoint/2010/main" val="2011819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0DEEE-78E3-4438-A06F-E130C52A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下一步进入方案确认与实施排期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643CF-46F6-4DE0-8209-C5232AC2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7DADD"/>
                </a:solidFill>
              </a:defRPr>
            </a:pPr>
            <a:r>
              <a:rPr sz="1650">
                <a:solidFill>
                  <a:srgbClr val="D7DADD"/>
                </a:solidFill>
              </a:rPr>
              <a:t>确认业务范围、系统边界、预算口径后，即可输出详细项目计划和里程碑。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0018C-B850-423A-AE13-9DF3411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EB4BB"/>
                </a:solidFill>
              </a:defRPr>
            </a:pPr>
            <a:r>
              <a:rPr sz="1350" b="1">
                <a:solidFill>
                  <a:srgbClr val="AEB4BB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60141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2026-07-05T09:53:17.2650000Z</dcterms:created>
  <dcterms:modified xsi:type="dcterms:W3CDTF">2026-07-05T09:53:17.2650000Z</dcterms:modified>
</coreProperties>
</file>